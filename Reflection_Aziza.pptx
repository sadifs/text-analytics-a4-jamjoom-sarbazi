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812"/>
    <p:restoredTop sz="94610"/>
  </p:normalViewPr>
  <p:slideViewPr>
    <p:cSldViewPr snapToGrid="0" snapToObjects="1">
      <p:cViewPr varScale="1">
        <p:scale>
          <a:sx n="130" d="100"/>
          <a:sy n="130" d="100"/>
        </p:scale>
        <p:origin x="192" y="8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366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229600" cy="685800"/>
          </a:xfrm>
          <a:prstGeom prst="rect">
            <a:avLst/>
          </a:prstGeom>
          <a:noFill/>
          <a:ln/>
        </p:spPr>
        <p:txBody>
          <a:bodyPr wrap="square" rtlCol="0" anchor="ctr"/>
          <a:lstStyle/>
          <a:p>
            <a:pPr marL="0" indent="0">
              <a:buNone/>
            </a:pPr>
            <a:r>
              <a:rPr lang="en-US" sz="4000" b="1" dirty="0">
                <a:solidFill>
                  <a:srgbClr val="1A1A1A"/>
                </a:solidFill>
                <a:latin typeface="Georgia" pitchFamily="34" charset="0"/>
                <a:ea typeface="Georgia" pitchFamily="34" charset="-122"/>
                <a:cs typeface="Georgia" pitchFamily="34" charset="-120"/>
              </a:rPr>
              <a:t>What I Learned</a:t>
            </a:r>
            <a:endParaRPr lang="en-US" sz="4000" dirty="0"/>
          </a:p>
        </p:txBody>
      </p:sp>
      <p:sp>
        <p:nvSpPr>
          <p:cNvPr id="3" name="Text 1"/>
          <p:cNvSpPr/>
          <p:nvPr/>
        </p:nvSpPr>
        <p:spPr>
          <a:xfrm>
            <a:off x="365760" y="868680"/>
            <a:ext cx="8229600" cy="274320"/>
          </a:xfrm>
          <a:prstGeom prst="rect">
            <a:avLst/>
          </a:prstGeom>
          <a:noFill/>
          <a:ln/>
        </p:spPr>
        <p:txBody>
          <a:bodyPr wrap="square" rtlCol="0" anchor="ctr"/>
          <a:lstStyle/>
          <a:p>
            <a:pPr marL="0" indent="0">
              <a:buNone/>
            </a:pPr>
            <a:r>
              <a:rPr lang="en-US" sz="1200" dirty="0">
                <a:solidFill>
                  <a:srgbClr val="888888"/>
                </a:solidFill>
              </a:rPr>
              <a:t>Aziza Jamjoom  ·  BSAN 6200 NER Assignment</a:t>
            </a:r>
            <a:endParaRPr lang="en-US" sz="1200" dirty="0"/>
          </a:p>
        </p:txBody>
      </p:sp>
      <p:sp>
        <p:nvSpPr>
          <p:cNvPr id="4" name="Shape 2"/>
          <p:cNvSpPr/>
          <p:nvPr/>
        </p:nvSpPr>
        <p:spPr>
          <a:xfrm>
            <a:off x="274320" y="1234440"/>
            <a:ext cx="2834640" cy="475488"/>
          </a:xfrm>
          <a:prstGeom prst="rect">
            <a:avLst/>
          </a:prstGeom>
          <a:solidFill>
            <a:srgbClr val="C9A96E"/>
          </a:solidFill>
          <a:ln/>
        </p:spPr>
        <p:txBody>
          <a:bodyPr/>
          <a:lstStyle/>
          <a:p>
            <a:endParaRPr lang="en-US"/>
          </a:p>
        </p:txBody>
      </p:sp>
      <p:sp>
        <p:nvSpPr>
          <p:cNvPr id="5" name="Text 3"/>
          <p:cNvSpPr/>
          <p:nvPr/>
        </p:nvSpPr>
        <p:spPr>
          <a:xfrm>
            <a:off x="384048" y="1261872"/>
            <a:ext cx="265176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Technical</a:t>
            </a:r>
            <a:endParaRPr lang="en-US" sz="1400" dirty="0"/>
          </a:p>
        </p:txBody>
      </p:sp>
      <p:sp>
        <p:nvSpPr>
          <p:cNvPr id="6" name="Shape 4"/>
          <p:cNvSpPr/>
          <p:nvPr/>
        </p:nvSpPr>
        <p:spPr>
          <a:xfrm>
            <a:off x="274320" y="1709928"/>
            <a:ext cx="2834640" cy="3108960"/>
          </a:xfrm>
          <a:prstGeom prst="rect">
            <a:avLst/>
          </a:prstGeom>
          <a:solidFill>
            <a:srgbClr val="F5EDD9"/>
          </a:solidFill>
          <a:ln w="6350">
            <a:solidFill>
              <a:srgbClr val="C9A96E"/>
            </a:solidFill>
            <a:prstDash val="solid"/>
          </a:ln>
        </p:spPr>
        <p:txBody>
          <a:bodyPr/>
          <a:lstStyle/>
          <a:p>
            <a:endParaRPr lang="en-US"/>
          </a:p>
        </p:txBody>
      </p:sp>
      <p:sp>
        <p:nvSpPr>
          <p:cNvPr id="8" name="Shape 6"/>
          <p:cNvSpPr/>
          <p:nvPr/>
        </p:nvSpPr>
        <p:spPr>
          <a:xfrm>
            <a:off x="3246120" y="1234440"/>
            <a:ext cx="2834640" cy="475488"/>
          </a:xfrm>
          <a:prstGeom prst="rect">
            <a:avLst/>
          </a:prstGeom>
          <a:solidFill>
            <a:srgbClr val="C9A96E"/>
          </a:solidFill>
          <a:ln/>
        </p:spPr>
        <p:txBody>
          <a:bodyPr/>
          <a:lstStyle/>
          <a:p>
            <a:endParaRPr lang="en-US"/>
          </a:p>
        </p:txBody>
      </p:sp>
      <p:sp>
        <p:nvSpPr>
          <p:cNvPr id="9" name="Text 7"/>
          <p:cNvSpPr/>
          <p:nvPr/>
        </p:nvSpPr>
        <p:spPr>
          <a:xfrm>
            <a:off x="3355848" y="1261872"/>
            <a:ext cx="265176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Annotation</a:t>
            </a:r>
            <a:endParaRPr lang="en-US" sz="1400" dirty="0"/>
          </a:p>
        </p:txBody>
      </p:sp>
      <p:sp>
        <p:nvSpPr>
          <p:cNvPr id="10" name="Shape 8"/>
          <p:cNvSpPr/>
          <p:nvPr/>
        </p:nvSpPr>
        <p:spPr>
          <a:xfrm>
            <a:off x="3246120" y="1709928"/>
            <a:ext cx="2834640" cy="3108960"/>
          </a:xfrm>
          <a:prstGeom prst="rect">
            <a:avLst/>
          </a:prstGeom>
          <a:solidFill>
            <a:srgbClr val="F5EDD9"/>
          </a:solidFill>
          <a:ln w="6350">
            <a:solidFill>
              <a:srgbClr val="C9A96E"/>
            </a:solidFill>
            <a:prstDash val="solid"/>
          </a:ln>
        </p:spPr>
        <p:txBody>
          <a:bodyPr/>
          <a:lstStyle/>
          <a:p>
            <a:endParaRPr lang="en-US"/>
          </a:p>
        </p:txBody>
      </p:sp>
      <p:sp>
        <p:nvSpPr>
          <p:cNvPr id="11" name="Text 9"/>
          <p:cNvSpPr/>
          <p:nvPr/>
        </p:nvSpPr>
        <p:spPr>
          <a:xfrm>
            <a:off x="3410712" y="1828800"/>
            <a:ext cx="2514600" cy="2834640"/>
          </a:xfrm>
          <a:prstGeom prst="rect">
            <a:avLst/>
          </a:prstGeom>
          <a:noFill/>
          <a:ln/>
        </p:spPr>
        <p:txBody>
          <a:bodyPr wrap="square" rtlCol="0" anchor="ctr"/>
          <a:lstStyle/>
          <a:p>
            <a:pPr marL="342900" indent="-342900">
              <a:spcAft>
                <a:spcPts val="800"/>
              </a:spcAft>
              <a:buSzPct val="100000"/>
              <a:buChar char="•"/>
            </a:pPr>
            <a:endParaRPr lang="en-US" sz="1150" dirty="0"/>
          </a:p>
        </p:txBody>
      </p:sp>
      <p:sp>
        <p:nvSpPr>
          <p:cNvPr id="12" name="Shape 10"/>
          <p:cNvSpPr/>
          <p:nvPr/>
        </p:nvSpPr>
        <p:spPr>
          <a:xfrm>
            <a:off x="6217920" y="1234440"/>
            <a:ext cx="2834640" cy="475488"/>
          </a:xfrm>
          <a:prstGeom prst="rect">
            <a:avLst/>
          </a:prstGeom>
          <a:solidFill>
            <a:srgbClr val="C9A96E"/>
          </a:solidFill>
          <a:ln/>
        </p:spPr>
        <p:txBody>
          <a:bodyPr/>
          <a:lstStyle/>
          <a:p>
            <a:endParaRPr lang="en-US"/>
          </a:p>
        </p:txBody>
      </p:sp>
      <p:sp>
        <p:nvSpPr>
          <p:cNvPr id="13" name="Text 11"/>
          <p:cNvSpPr/>
          <p:nvPr/>
        </p:nvSpPr>
        <p:spPr>
          <a:xfrm>
            <a:off x="6327648" y="1261872"/>
            <a:ext cx="265176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Collaboration</a:t>
            </a:r>
            <a:endParaRPr lang="en-US" sz="1400" dirty="0"/>
          </a:p>
        </p:txBody>
      </p:sp>
      <p:sp>
        <p:nvSpPr>
          <p:cNvPr id="14" name="Shape 12"/>
          <p:cNvSpPr/>
          <p:nvPr/>
        </p:nvSpPr>
        <p:spPr>
          <a:xfrm>
            <a:off x="6217920" y="1709928"/>
            <a:ext cx="2834640" cy="3108960"/>
          </a:xfrm>
          <a:prstGeom prst="rect">
            <a:avLst/>
          </a:prstGeom>
          <a:solidFill>
            <a:srgbClr val="F5EDD9"/>
          </a:solidFill>
          <a:ln w="6350">
            <a:solidFill>
              <a:srgbClr val="C9A96E"/>
            </a:solidFill>
            <a:prstDash val="solid"/>
          </a:ln>
        </p:spPr>
        <p:txBody>
          <a:bodyPr/>
          <a:lstStyle/>
          <a:p>
            <a:endParaRPr lang="en-US"/>
          </a:p>
        </p:txBody>
      </p:sp>
      <p:sp>
        <p:nvSpPr>
          <p:cNvPr id="15" name="Text 13"/>
          <p:cNvSpPr/>
          <p:nvPr/>
        </p:nvSpPr>
        <p:spPr>
          <a:xfrm>
            <a:off x="6382512" y="1828800"/>
            <a:ext cx="2514600" cy="2834640"/>
          </a:xfrm>
          <a:prstGeom prst="rect">
            <a:avLst/>
          </a:prstGeom>
          <a:noFill/>
          <a:ln/>
        </p:spPr>
        <p:txBody>
          <a:bodyPr wrap="square" rtlCol="0" anchor="ctr"/>
          <a:lstStyle/>
          <a:p>
            <a:pPr marL="342900" indent="-342900">
              <a:spcAft>
                <a:spcPts val="800"/>
              </a:spcAft>
              <a:buSzPct val="100000"/>
              <a:buChar char="•"/>
            </a:pPr>
            <a:endParaRPr lang="en-US" sz="1150" dirty="0"/>
          </a:p>
        </p:txBody>
      </p:sp>
      <p:sp>
        <p:nvSpPr>
          <p:cNvPr id="19" name="Rectangle 3">
            <a:extLst>
              <a:ext uri="{FF2B5EF4-FFF2-40B4-BE49-F238E27FC236}">
                <a16:creationId xmlns:a16="http://schemas.microsoft.com/office/drawing/2014/main" id="{2B15F982-BEFF-84A8-B141-D33EAD05A10D}"/>
              </a:ext>
            </a:extLst>
          </p:cNvPr>
          <p:cNvSpPr>
            <a:spLocks noChangeArrowheads="1"/>
          </p:cNvSpPr>
          <p:nvPr/>
        </p:nvSpPr>
        <p:spPr bwMode="auto">
          <a:xfrm>
            <a:off x="513243" y="2075688"/>
            <a:ext cx="2121801"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Data quality and annotation consistency matter more than model complexity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Class imbalance can completely break neural models (Bi-LSTM predicting all “O”)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Traditional models like CRF can outperform deep learning in low-resource settings</a:t>
            </a:r>
          </a:p>
        </p:txBody>
      </p:sp>
      <p:sp>
        <p:nvSpPr>
          <p:cNvPr id="20" name="Rectangle 4">
            <a:extLst>
              <a:ext uri="{FF2B5EF4-FFF2-40B4-BE49-F238E27FC236}">
                <a16:creationId xmlns:a16="http://schemas.microsoft.com/office/drawing/2014/main" id="{BB10E45E-EC6D-1D6D-6638-7010893DA8E3}"/>
              </a:ext>
            </a:extLst>
          </p:cNvPr>
          <p:cNvSpPr>
            <a:spLocks noChangeArrowheads="1"/>
          </p:cNvSpPr>
          <p:nvPr/>
        </p:nvSpPr>
        <p:spPr bwMode="auto">
          <a:xfrm>
            <a:off x="3485618" y="2075687"/>
            <a:ext cx="1989883"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dirty="0">
                <a:latin typeface="Arial" panose="020B0604020202020204" pitchFamily="34" charset="0"/>
              </a:rPr>
              <a:t> </a:t>
            </a:r>
            <a:r>
              <a:rPr kumimoji="0" lang="en-US" altLang="en-US" sz="1100" b="0" i="0" u="none" strike="noStrike" cap="none" normalizeH="0" baseline="0" dirty="0">
                <a:ln>
                  <a:noFill/>
                </a:ln>
                <a:solidFill>
                  <a:schemeClr val="tx1"/>
                </a:solidFill>
                <a:effectLst/>
                <a:latin typeface="Arial" panose="020B0604020202020204" pitchFamily="34" charset="0"/>
              </a:rPr>
              <a:t>Small changes in guidelines significantly impact model performance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Distinguishing between similar entity types (ORG vs PROD) requires clear rules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Real-world data is messy, and edge cases are unavoidable and must be documented</a:t>
            </a:r>
          </a:p>
        </p:txBody>
      </p:sp>
      <p:sp>
        <p:nvSpPr>
          <p:cNvPr id="21" name="Rectangle 5">
            <a:extLst>
              <a:ext uri="{FF2B5EF4-FFF2-40B4-BE49-F238E27FC236}">
                <a16:creationId xmlns:a16="http://schemas.microsoft.com/office/drawing/2014/main" id="{A4637A63-2F05-0B51-3B44-915F1863D3B4}"/>
              </a:ext>
            </a:extLst>
          </p:cNvPr>
          <p:cNvSpPr>
            <a:spLocks noChangeArrowheads="1"/>
          </p:cNvSpPr>
          <p:nvPr/>
        </p:nvSpPr>
        <p:spPr bwMode="auto">
          <a:xfrm>
            <a:off x="6562663" y="2244963"/>
            <a:ext cx="2181730" cy="1954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Aligning on definitions early reduces rework later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Overlap annotation and IAA helped ensure consistency across our work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Clear communication was key when resolving disagreements and refining guidelines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229600" cy="685800"/>
          </a:xfrm>
          <a:prstGeom prst="rect">
            <a:avLst/>
          </a:prstGeom>
          <a:noFill/>
          <a:ln/>
        </p:spPr>
        <p:txBody>
          <a:bodyPr wrap="square" rtlCol="0" anchor="ctr"/>
          <a:lstStyle/>
          <a:p>
            <a:pPr marL="0" indent="0">
              <a:buNone/>
            </a:pPr>
            <a:r>
              <a:rPr lang="en-US" sz="4000" b="1" dirty="0">
                <a:solidFill>
                  <a:srgbClr val="1A1A1A"/>
                </a:solidFill>
                <a:latin typeface="Georgia" pitchFamily="34" charset="0"/>
                <a:ea typeface="Georgia" pitchFamily="34" charset="-122"/>
                <a:cs typeface="Georgia" pitchFamily="34" charset="-120"/>
              </a:rPr>
              <a:t>Challenges &amp; Solutions</a:t>
            </a:r>
            <a:endParaRPr lang="en-US" sz="4000" dirty="0"/>
          </a:p>
        </p:txBody>
      </p:sp>
      <p:sp>
        <p:nvSpPr>
          <p:cNvPr id="3" name="Shape 1"/>
          <p:cNvSpPr/>
          <p:nvPr/>
        </p:nvSpPr>
        <p:spPr>
          <a:xfrm>
            <a:off x="274320" y="1005840"/>
            <a:ext cx="4114800" cy="457200"/>
          </a:xfrm>
          <a:prstGeom prst="rect">
            <a:avLst/>
          </a:prstGeom>
          <a:solidFill>
            <a:srgbClr val="C9A96E"/>
          </a:solidFill>
          <a:ln/>
        </p:spPr>
        <p:txBody>
          <a:bodyPr/>
          <a:lstStyle/>
          <a:p>
            <a:endParaRPr lang="en-US"/>
          </a:p>
        </p:txBody>
      </p:sp>
      <p:sp>
        <p:nvSpPr>
          <p:cNvPr id="4" name="Shape 2"/>
          <p:cNvSpPr/>
          <p:nvPr/>
        </p:nvSpPr>
        <p:spPr>
          <a:xfrm>
            <a:off x="4663440" y="1005840"/>
            <a:ext cx="4114800" cy="457200"/>
          </a:xfrm>
          <a:prstGeom prst="rect">
            <a:avLst/>
          </a:prstGeom>
          <a:solidFill>
            <a:srgbClr val="C9A96E"/>
          </a:solidFill>
          <a:ln/>
        </p:spPr>
        <p:txBody>
          <a:bodyPr/>
          <a:lstStyle/>
          <a:p>
            <a:endParaRPr lang="en-US"/>
          </a:p>
        </p:txBody>
      </p:sp>
      <p:sp>
        <p:nvSpPr>
          <p:cNvPr id="5" name="Text 3"/>
          <p:cNvSpPr/>
          <p:nvPr/>
        </p:nvSpPr>
        <p:spPr>
          <a:xfrm>
            <a:off x="411480" y="1033272"/>
            <a:ext cx="3840480" cy="384048"/>
          </a:xfrm>
          <a:prstGeom prst="rect">
            <a:avLst/>
          </a:prstGeom>
          <a:noFill/>
          <a:ln/>
        </p:spPr>
        <p:txBody>
          <a:bodyPr wrap="square" lIns="0" tIns="0" rIns="0" bIns="0" rtlCol="0" anchor="ctr"/>
          <a:lstStyle/>
          <a:p>
            <a:pPr marL="0" indent="0">
              <a:buNone/>
            </a:pPr>
            <a:r>
              <a:rPr lang="en-US" sz="1400" b="1" dirty="0">
                <a:solidFill>
                  <a:srgbClr val="FFFFFF"/>
                </a:solidFill>
              </a:rPr>
              <a:t>Challenges</a:t>
            </a:r>
            <a:endParaRPr lang="en-US" sz="1400" dirty="0"/>
          </a:p>
        </p:txBody>
      </p:sp>
      <p:sp>
        <p:nvSpPr>
          <p:cNvPr id="6" name="Text 4"/>
          <p:cNvSpPr/>
          <p:nvPr/>
        </p:nvSpPr>
        <p:spPr>
          <a:xfrm>
            <a:off x="4800600" y="1033272"/>
            <a:ext cx="3840480" cy="384048"/>
          </a:xfrm>
          <a:prstGeom prst="rect">
            <a:avLst/>
          </a:prstGeom>
          <a:noFill/>
          <a:ln/>
        </p:spPr>
        <p:txBody>
          <a:bodyPr wrap="square" lIns="0" tIns="0" rIns="0" bIns="0" rtlCol="0" anchor="ctr"/>
          <a:lstStyle/>
          <a:p>
            <a:pPr marL="0" indent="0">
              <a:buNone/>
            </a:pPr>
            <a:r>
              <a:rPr lang="en-US" sz="1400" b="1" dirty="0">
                <a:solidFill>
                  <a:srgbClr val="FFFFFF"/>
                </a:solidFill>
              </a:rPr>
              <a:t>Solutions</a:t>
            </a:r>
            <a:endParaRPr lang="en-US" sz="1400" dirty="0"/>
          </a:p>
        </p:txBody>
      </p:sp>
      <p:sp>
        <p:nvSpPr>
          <p:cNvPr id="7" name="Shape 5"/>
          <p:cNvSpPr/>
          <p:nvPr/>
        </p:nvSpPr>
        <p:spPr>
          <a:xfrm>
            <a:off x="274320" y="1572768"/>
            <a:ext cx="4114800" cy="768096"/>
          </a:xfrm>
          <a:prstGeom prst="rect">
            <a:avLst/>
          </a:prstGeom>
          <a:solidFill>
            <a:srgbClr val="F5EDD9"/>
          </a:solidFill>
          <a:ln w="6350">
            <a:solidFill>
              <a:srgbClr val="C9A96E"/>
            </a:solidFill>
            <a:prstDash val="solid"/>
          </a:ln>
        </p:spPr>
        <p:txBody>
          <a:bodyPr/>
          <a:lstStyle/>
          <a:p>
            <a:endParaRPr lang="en-US"/>
          </a:p>
        </p:txBody>
      </p:sp>
      <p:sp>
        <p:nvSpPr>
          <p:cNvPr id="8" name="Shape 6"/>
          <p:cNvSpPr/>
          <p:nvPr/>
        </p:nvSpPr>
        <p:spPr>
          <a:xfrm>
            <a:off x="4663440" y="1572768"/>
            <a:ext cx="4114800" cy="768096"/>
          </a:xfrm>
          <a:prstGeom prst="rect">
            <a:avLst/>
          </a:prstGeom>
          <a:solidFill>
            <a:srgbClr val="F5EDD9"/>
          </a:solidFill>
          <a:ln w="6350">
            <a:solidFill>
              <a:srgbClr val="C9A96E"/>
            </a:solidFill>
            <a:prstDash val="solid"/>
          </a:ln>
        </p:spPr>
        <p:txBody>
          <a:bodyPr/>
          <a:lstStyle/>
          <a:p>
            <a:endParaRPr lang="en-US"/>
          </a:p>
        </p:txBody>
      </p:sp>
      <p:sp>
        <p:nvSpPr>
          <p:cNvPr id="9" name="Text 7"/>
          <p:cNvSpPr/>
          <p:nvPr/>
        </p:nvSpPr>
        <p:spPr>
          <a:xfrm>
            <a:off x="411480" y="1645920"/>
            <a:ext cx="3840480" cy="640080"/>
          </a:xfrm>
          <a:prstGeom prst="rect">
            <a:avLst/>
          </a:prstGeom>
          <a:noFill/>
          <a:ln/>
        </p:spPr>
        <p:txBody>
          <a:bodyPr wrap="square" rtlCol="0" anchor="ctr"/>
          <a:lstStyle/>
          <a:p>
            <a:r>
              <a:rPr lang="en-US" sz="1100" dirty="0"/>
              <a:t>Ambiguity in entity types (especially ORG vs PROD)</a:t>
            </a:r>
          </a:p>
        </p:txBody>
      </p:sp>
      <p:sp>
        <p:nvSpPr>
          <p:cNvPr id="10" name="Text 8"/>
          <p:cNvSpPr/>
          <p:nvPr/>
        </p:nvSpPr>
        <p:spPr>
          <a:xfrm>
            <a:off x="4800600" y="1645920"/>
            <a:ext cx="3840480" cy="640080"/>
          </a:xfrm>
          <a:prstGeom prst="rect">
            <a:avLst/>
          </a:prstGeom>
          <a:noFill/>
          <a:ln/>
        </p:spPr>
        <p:txBody>
          <a:bodyPr wrap="square" rtlCol="0" anchor="ctr"/>
          <a:lstStyle/>
          <a:p>
            <a:r>
              <a:rPr lang="en-US" sz="1100" dirty="0"/>
              <a:t>Developed clearer annotation rules with specific edge case examples</a:t>
            </a:r>
          </a:p>
        </p:txBody>
      </p:sp>
      <p:sp>
        <p:nvSpPr>
          <p:cNvPr id="11" name="Shape 9"/>
          <p:cNvSpPr/>
          <p:nvPr/>
        </p:nvSpPr>
        <p:spPr>
          <a:xfrm>
            <a:off x="274320" y="2414016"/>
            <a:ext cx="4114800" cy="768096"/>
          </a:xfrm>
          <a:prstGeom prst="rect">
            <a:avLst/>
          </a:prstGeom>
          <a:solidFill>
            <a:srgbClr val="FAFAFA"/>
          </a:solidFill>
          <a:ln w="6350">
            <a:solidFill>
              <a:srgbClr val="C9A96E"/>
            </a:solidFill>
            <a:prstDash val="solid"/>
          </a:ln>
        </p:spPr>
        <p:txBody>
          <a:bodyPr/>
          <a:lstStyle/>
          <a:p>
            <a:endParaRPr lang="en-US"/>
          </a:p>
        </p:txBody>
      </p:sp>
      <p:sp>
        <p:nvSpPr>
          <p:cNvPr id="12" name="Shape 10"/>
          <p:cNvSpPr/>
          <p:nvPr/>
        </p:nvSpPr>
        <p:spPr>
          <a:xfrm>
            <a:off x="4663440" y="2414016"/>
            <a:ext cx="4114800" cy="768096"/>
          </a:xfrm>
          <a:prstGeom prst="rect">
            <a:avLst/>
          </a:prstGeom>
          <a:solidFill>
            <a:srgbClr val="FAFAFA"/>
          </a:solidFill>
          <a:ln w="6350">
            <a:solidFill>
              <a:srgbClr val="C9A96E"/>
            </a:solidFill>
            <a:prstDash val="solid"/>
          </a:ln>
        </p:spPr>
        <p:txBody>
          <a:bodyPr/>
          <a:lstStyle/>
          <a:p>
            <a:endParaRPr lang="en-US"/>
          </a:p>
        </p:txBody>
      </p:sp>
      <p:sp>
        <p:nvSpPr>
          <p:cNvPr id="13" name="Text 11"/>
          <p:cNvSpPr/>
          <p:nvPr/>
        </p:nvSpPr>
        <p:spPr>
          <a:xfrm>
            <a:off x="411480" y="2487168"/>
            <a:ext cx="3840480" cy="640080"/>
          </a:xfrm>
          <a:prstGeom prst="rect">
            <a:avLst/>
          </a:prstGeom>
          <a:noFill/>
          <a:ln/>
        </p:spPr>
        <p:txBody>
          <a:bodyPr wrap="square" rtlCol="0" anchor="ctr"/>
          <a:lstStyle/>
          <a:p>
            <a:r>
              <a:rPr lang="en-US" sz="1100" dirty="0"/>
              <a:t>Inconsistent Twitter language (handles, slang, abbreviations)</a:t>
            </a:r>
          </a:p>
        </p:txBody>
      </p:sp>
      <p:sp>
        <p:nvSpPr>
          <p:cNvPr id="14" name="Text 12"/>
          <p:cNvSpPr/>
          <p:nvPr/>
        </p:nvSpPr>
        <p:spPr>
          <a:xfrm>
            <a:off x="4800600" y="2487168"/>
            <a:ext cx="3840480" cy="640080"/>
          </a:xfrm>
          <a:prstGeom prst="rect">
            <a:avLst/>
          </a:prstGeom>
          <a:noFill/>
          <a:ln/>
        </p:spPr>
        <p:txBody>
          <a:bodyPr wrap="square" rtlCol="0" anchor="ctr"/>
          <a:lstStyle/>
          <a:p>
            <a:r>
              <a:rPr lang="en-US" sz="1100" dirty="0"/>
              <a:t>Adapted guidelines specifically for Twitter-style text</a:t>
            </a:r>
          </a:p>
        </p:txBody>
      </p:sp>
      <p:sp>
        <p:nvSpPr>
          <p:cNvPr id="15" name="Shape 13"/>
          <p:cNvSpPr/>
          <p:nvPr/>
        </p:nvSpPr>
        <p:spPr>
          <a:xfrm>
            <a:off x="274320" y="3255264"/>
            <a:ext cx="4114800" cy="768096"/>
          </a:xfrm>
          <a:prstGeom prst="rect">
            <a:avLst/>
          </a:prstGeom>
          <a:solidFill>
            <a:srgbClr val="F5EDD9"/>
          </a:solidFill>
          <a:ln w="6350">
            <a:solidFill>
              <a:srgbClr val="C9A96E"/>
            </a:solidFill>
            <a:prstDash val="solid"/>
          </a:ln>
        </p:spPr>
        <p:txBody>
          <a:bodyPr/>
          <a:lstStyle/>
          <a:p>
            <a:endParaRPr lang="en-US"/>
          </a:p>
        </p:txBody>
      </p:sp>
      <p:sp>
        <p:nvSpPr>
          <p:cNvPr id="16" name="Shape 14"/>
          <p:cNvSpPr/>
          <p:nvPr/>
        </p:nvSpPr>
        <p:spPr>
          <a:xfrm>
            <a:off x="4663440" y="3255264"/>
            <a:ext cx="4114800" cy="768096"/>
          </a:xfrm>
          <a:prstGeom prst="rect">
            <a:avLst/>
          </a:prstGeom>
          <a:solidFill>
            <a:srgbClr val="F5EDD9"/>
          </a:solidFill>
          <a:ln w="6350">
            <a:solidFill>
              <a:srgbClr val="C9A96E"/>
            </a:solidFill>
            <a:prstDash val="solid"/>
          </a:ln>
        </p:spPr>
        <p:txBody>
          <a:bodyPr/>
          <a:lstStyle/>
          <a:p>
            <a:endParaRPr lang="en-US"/>
          </a:p>
        </p:txBody>
      </p:sp>
      <p:sp>
        <p:nvSpPr>
          <p:cNvPr id="17" name="Text 15"/>
          <p:cNvSpPr/>
          <p:nvPr/>
        </p:nvSpPr>
        <p:spPr>
          <a:xfrm>
            <a:off x="411480" y="3328416"/>
            <a:ext cx="3840480" cy="640080"/>
          </a:xfrm>
          <a:prstGeom prst="rect">
            <a:avLst/>
          </a:prstGeom>
          <a:noFill/>
          <a:ln/>
        </p:spPr>
        <p:txBody>
          <a:bodyPr wrap="square" rtlCol="0" anchor="ctr"/>
          <a:lstStyle/>
          <a:p>
            <a:r>
              <a:rPr lang="en-US" sz="1100" dirty="0"/>
              <a:t>Limited dataset size for training deep learning models</a:t>
            </a:r>
          </a:p>
        </p:txBody>
      </p:sp>
      <p:sp>
        <p:nvSpPr>
          <p:cNvPr id="18" name="Text 16"/>
          <p:cNvSpPr/>
          <p:nvPr/>
        </p:nvSpPr>
        <p:spPr>
          <a:xfrm>
            <a:off x="4800600" y="3328416"/>
            <a:ext cx="3840480" cy="640080"/>
          </a:xfrm>
          <a:prstGeom prst="rect">
            <a:avLst/>
          </a:prstGeom>
          <a:noFill/>
          <a:ln/>
        </p:spPr>
        <p:txBody>
          <a:bodyPr wrap="square" rtlCol="0" anchor="ctr"/>
          <a:lstStyle/>
          <a:p>
            <a:r>
              <a:rPr lang="en-US" sz="1100" dirty="0"/>
              <a:t>Focused on models better suited for small datasets (CRF)</a:t>
            </a:r>
          </a:p>
        </p:txBody>
      </p:sp>
      <p:sp>
        <p:nvSpPr>
          <p:cNvPr id="19" name="Shape 17"/>
          <p:cNvSpPr/>
          <p:nvPr/>
        </p:nvSpPr>
        <p:spPr>
          <a:xfrm>
            <a:off x="274320" y="4096512"/>
            <a:ext cx="4114800" cy="768096"/>
          </a:xfrm>
          <a:prstGeom prst="rect">
            <a:avLst/>
          </a:prstGeom>
          <a:solidFill>
            <a:srgbClr val="FAFAFA"/>
          </a:solidFill>
          <a:ln w="6350">
            <a:solidFill>
              <a:srgbClr val="C9A96E"/>
            </a:solidFill>
            <a:prstDash val="solid"/>
          </a:ln>
        </p:spPr>
        <p:txBody>
          <a:bodyPr/>
          <a:lstStyle/>
          <a:p>
            <a:endParaRPr lang="en-US"/>
          </a:p>
        </p:txBody>
      </p:sp>
      <p:sp>
        <p:nvSpPr>
          <p:cNvPr id="20" name="Shape 18"/>
          <p:cNvSpPr/>
          <p:nvPr/>
        </p:nvSpPr>
        <p:spPr>
          <a:xfrm>
            <a:off x="4663440" y="4096512"/>
            <a:ext cx="4114800" cy="768096"/>
          </a:xfrm>
          <a:prstGeom prst="rect">
            <a:avLst/>
          </a:prstGeom>
          <a:solidFill>
            <a:srgbClr val="FAFAFA"/>
          </a:solidFill>
          <a:ln w="6350">
            <a:solidFill>
              <a:srgbClr val="C9A96E"/>
            </a:solidFill>
            <a:prstDash val="solid"/>
          </a:ln>
        </p:spPr>
        <p:txBody>
          <a:bodyPr/>
          <a:lstStyle/>
          <a:p>
            <a:endParaRPr lang="en-US"/>
          </a:p>
        </p:txBody>
      </p:sp>
      <p:sp>
        <p:nvSpPr>
          <p:cNvPr id="21" name="Text 19"/>
          <p:cNvSpPr/>
          <p:nvPr/>
        </p:nvSpPr>
        <p:spPr>
          <a:xfrm>
            <a:off x="411480" y="4169664"/>
            <a:ext cx="3840480" cy="640080"/>
          </a:xfrm>
          <a:prstGeom prst="rect">
            <a:avLst/>
          </a:prstGeom>
          <a:noFill/>
          <a:ln/>
        </p:spPr>
        <p:txBody>
          <a:bodyPr wrap="square" rtlCol="0" anchor="ctr"/>
          <a:lstStyle/>
          <a:p>
            <a:r>
              <a:rPr lang="en-US" sz="1100" dirty="0"/>
              <a:t>Maintaining annotation consistency across batches</a:t>
            </a:r>
          </a:p>
        </p:txBody>
      </p:sp>
      <p:sp>
        <p:nvSpPr>
          <p:cNvPr id="22" name="Text 20"/>
          <p:cNvSpPr/>
          <p:nvPr/>
        </p:nvSpPr>
        <p:spPr>
          <a:xfrm>
            <a:off x="4800600" y="4169664"/>
            <a:ext cx="3840480" cy="640080"/>
          </a:xfrm>
          <a:prstGeom prst="rect">
            <a:avLst/>
          </a:prstGeom>
          <a:noFill/>
          <a:ln/>
        </p:spPr>
        <p:txBody>
          <a:bodyPr wrap="square" rtlCol="0" anchor="ctr"/>
          <a:lstStyle/>
          <a:p>
            <a:r>
              <a:rPr lang="en-US" sz="1100" dirty="0"/>
              <a:t>Used overlap annotation and IAA to ensure consistency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79"/>
            <a:ext cx="6400800" cy="811033"/>
          </a:xfrm>
          <a:prstGeom prst="rect">
            <a:avLst/>
          </a:prstGeom>
          <a:noFill/>
          <a:ln/>
        </p:spPr>
        <p:txBody>
          <a:bodyPr wrap="square" rtlCol="0" anchor="ctr"/>
          <a:lstStyle/>
          <a:p>
            <a:pPr marL="0" indent="0">
              <a:buNone/>
            </a:pPr>
            <a:r>
              <a:rPr lang="en-US" sz="4000" b="1" dirty="0">
                <a:solidFill>
                  <a:srgbClr val="1A1A1A"/>
                </a:solidFill>
                <a:latin typeface="Georgia" pitchFamily="34" charset="0"/>
                <a:ea typeface="Georgia" pitchFamily="34" charset="-122"/>
                <a:cs typeface="Georgia" pitchFamily="34" charset="-120"/>
              </a:rPr>
              <a:t>Peer Evaluation</a:t>
            </a:r>
            <a:endParaRPr lang="en-US" sz="4000" dirty="0"/>
          </a:p>
        </p:txBody>
      </p:sp>
      <p:sp>
        <p:nvSpPr>
          <p:cNvPr id="4" name="Shape 2"/>
          <p:cNvSpPr/>
          <p:nvPr/>
        </p:nvSpPr>
        <p:spPr>
          <a:xfrm>
            <a:off x="274320" y="1280160"/>
            <a:ext cx="8503920" cy="438912"/>
          </a:xfrm>
          <a:prstGeom prst="rect">
            <a:avLst/>
          </a:prstGeom>
          <a:solidFill>
            <a:srgbClr val="C9A96E"/>
          </a:solidFill>
          <a:ln/>
        </p:spPr>
        <p:txBody>
          <a:bodyPr/>
          <a:lstStyle/>
          <a:p>
            <a:endParaRPr lang="en-US"/>
          </a:p>
        </p:txBody>
      </p:sp>
      <p:sp>
        <p:nvSpPr>
          <p:cNvPr id="5" name="Text 3"/>
          <p:cNvSpPr/>
          <p:nvPr/>
        </p:nvSpPr>
        <p:spPr>
          <a:xfrm>
            <a:off x="411480" y="1307592"/>
            <a:ext cx="8229600" cy="365760"/>
          </a:xfrm>
          <a:prstGeom prst="rect">
            <a:avLst/>
          </a:prstGeom>
          <a:noFill/>
          <a:ln/>
        </p:spPr>
        <p:txBody>
          <a:bodyPr wrap="square" lIns="0" tIns="0" rIns="0" bIns="0" rtlCol="0" anchor="ctr"/>
          <a:lstStyle/>
          <a:p>
            <a:r>
              <a:rPr lang="en-US" sz="1400" b="1" dirty="0">
                <a:solidFill>
                  <a:srgbClr val="FFFFFF"/>
                </a:solidFill>
              </a:rPr>
              <a:t>Overall Experience</a:t>
            </a:r>
            <a:endParaRPr lang="en-US" sz="1400" dirty="0"/>
          </a:p>
        </p:txBody>
      </p:sp>
      <p:sp>
        <p:nvSpPr>
          <p:cNvPr id="6" name="Shape 4"/>
          <p:cNvSpPr/>
          <p:nvPr/>
        </p:nvSpPr>
        <p:spPr>
          <a:xfrm>
            <a:off x="274320" y="1636776"/>
            <a:ext cx="8503920" cy="1417320"/>
          </a:xfrm>
          <a:prstGeom prst="rect">
            <a:avLst/>
          </a:prstGeom>
          <a:solidFill>
            <a:srgbClr val="F5EDD9"/>
          </a:solidFill>
          <a:ln w="6350">
            <a:solidFill>
              <a:srgbClr val="C9A96E"/>
            </a:solidFill>
            <a:prstDash val="solid"/>
          </a:ln>
        </p:spPr>
        <p:txBody>
          <a:bodyPr/>
          <a:lstStyle/>
          <a:p>
            <a:endParaRPr lang="en-US"/>
          </a:p>
        </p:txBody>
      </p:sp>
      <p:sp>
        <p:nvSpPr>
          <p:cNvPr id="7" name="Text 5"/>
          <p:cNvSpPr/>
          <p:nvPr/>
        </p:nvSpPr>
        <p:spPr>
          <a:xfrm>
            <a:off x="411480" y="1810512"/>
            <a:ext cx="8229600" cy="1234440"/>
          </a:xfrm>
          <a:prstGeom prst="rect">
            <a:avLst/>
          </a:prstGeom>
          <a:noFill/>
          <a:ln/>
        </p:spPr>
        <p:txBody>
          <a:bodyPr wrap="square" rtlCol="0" anchor="ctr"/>
          <a:lstStyle/>
          <a:p>
            <a:pPr marL="342900" indent="-342900">
              <a:spcAft>
                <a:spcPts val="800"/>
              </a:spcAft>
              <a:buSzPct val="100000"/>
              <a:buChar char="•"/>
            </a:pPr>
            <a:endParaRPr lang="en-US" sz="1200" dirty="0"/>
          </a:p>
        </p:txBody>
      </p:sp>
      <p:sp>
        <p:nvSpPr>
          <p:cNvPr id="8" name="Shape 6"/>
          <p:cNvSpPr/>
          <p:nvPr/>
        </p:nvSpPr>
        <p:spPr>
          <a:xfrm>
            <a:off x="274320" y="3246120"/>
            <a:ext cx="8503920" cy="438912"/>
          </a:xfrm>
          <a:prstGeom prst="rect">
            <a:avLst/>
          </a:prstGeom>
          <a:solidFill>
            <a:srgbClr val="8B6914"/>
          </a:solidFill>
          <a:ln/>
        </p:spPr>
        <p:txBody>
          <a:bodyPr/>
          <a:lstStyle/>
          <a:p>
            <a:endParaRPr lang="en-US"/>
          </a:p>
        </p:txBody>
      </p:sp>
      <p:sp>
        <p:nvSpPr>
          <p:cNvPr id="9" name="Text 7"/>
          <p:cNvSpPr/>
          <p:nvPr/>
        </p:nvSpPr>
        <p:spPr>
          <a:xfrm>
            <a:off x="411480" y="3273552"/>
            <a:ext cx="8229600" cy="365760"/>
          </a:xfrm>
          <a:prstGeom prst="rect">
            <a:avLst/>
          </a:prstGeom>
          <a:noFill/>
          <a:ln/>
        </p:spPr>
        <p:txBody>
          <a:bodyPr wrap="square" lIns="0" tIns="0" rIns="0" bIns="0" rtlCol="0" anchor="ctr"/>
          <a:lstStyle/>
          <a:p>
            <a:pPr marL="0" indent="0">
              <a:buNone/>
            </a:pPr>
            <a:r>
              <a:rPr lang="en-US" sz="1400" b="1" dirty="0">
                <a:solidFill>
                  <a:srgbClr val="FFFFFF"/>
                </a:solidFill>
              </a:rPr>
              <a:t>Rating</a:t>
            </a:r>
            <a:endParaRPr lang="en-US" sz="1400" dirty="0"/>
          </a:p>
        </p:txBody>
      </p:sp>
      <p:sp>
        <p:nvSpPr>
          <p:cNvPr id="10" name="Shape 8"/>
          <p:cNvSpPr/>
          <p:nvPr/>
        </p:nvSpPr>
        <p:spPr>
          <a:xfrm>
            <a:off x="274320" y="3685032"/>
            <a:ext cx="8503920" cy="1051560"/>
          </a:xfrm>
          <a:prstGeom prst="rect">
            <a:avLst/>
          </a:prstGeom>
          <a:solidFill>
            <a:srgbClr val="F5EDD9"/>
          </a:solidFill>
          <a:ln w="6350">
            <a:solidFill>
              <a:srgbClr val="C9A96E"/>
            </a:solidFill>
            <a:prstDash val="solid"/>
          </a:ln>
        </p:spPr>
        <p:txBody>
          <a:bodyPr/>
          <a:lstStyle/>
          <a:p>
            <a:endParaRPr lang="en-US"/>
          </a:p>
        </p:txBody>
      </p:sp>
      <p:sp>
        <p:nvSpPr>
          <p:cNvPr id="11" name="Text 9"/>
          <p:cNvSpPr/>
          <p:nvPr/>
        </p:nvSpPr>
        <p:spPr>
          <a:xfrm>
            <a:off x="411480" y="3776472"/>
            <a:ext cx="8229600" cy="868680"/>
          </a:xfrm>
          <a:prstGeom prst="rect">
            <a:avLst/>
          </a:prstGeom>
          <a:noFill/>
          <a:ln/>
        </p:spPr>
        <p:txBody>
          <a:bodyPr wrap="square" rtlCol="0" anchor="ctr"/>
          <a:lstStyle/>
          <a:p>
            <a:r>
              <a:rPr lang="en-US" sz="1200" dirty="0"/>
              <a:t>Working with Sadaf was a 10/10 experience. She was reliable, detail-oriented, and especially strong on the technical side of the project. When we encountered issues with one of the models, I worked on trying to fix it while she ensured the rest of the pipeline remained stable, which helped us stay on track. Our collaboration felt balanced and smooth throughout, and I would definitely work with her again.</a:t>
            </a:r>
          </a:p>
        </p:txBody>
      </p:sp>
      <p:sp>
        <p:nvSpPr>
          <p:cNvPr id="3" name="Rectangle 1">
            <a:extLst>
              <a:ext uri="{FF2B5EF4-FFF2-40B4-BE49-F238E27FC236}">
                <a16:creationId xmlns:a16="http://schemas.microsoft.com/office/drawing/2014/main" id="{44945D82-C720-72EC-0932-9E74402ACFD5}"/>
              </a:ext>
            </a:extLst>
          </p:cNvPr>
          <p:cNvSpPr>
            <a:spLocks noChangeArrowheads="1"/>
          </p:cNvSpPr>
          <p:nvPr/>
        </p:nvSpPr>
        <p:spPr bwMode="auto">
          <a:xfrm>
            <a:off x="274320" y="1358966"/>
            <a:ext cx="8503920"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Sadaf took strong ownership of the coding and modeling components of the project, which played a major role in keeping our workflow efficient and structured.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She handled the technical implementation of the models and debugging process very well, while I focused more on the writing and documentation aspects, and we complemented each other effectively.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 We both contributed equally to the annotation process, dividing the work fairly and collaborating closely on refining our guidelines and resolving edge cases.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C9A96E"/>
          </a:solidFill>
          <a:ln/>
        </p:spPr>
        <p:txBody>
          <a:bodyPr/>
          <a:lstStyle/>
          <a:p>
            <a:endParaRPr lang="en-US"/>
          </a:p>
        </p:txBody>
      </p:sp>
      <p:sp>
        <p:nvSpPr>
          <p:cNvPr id="3" name="Text 1"/>
          <p:cNvSpPr/>
          <p:nvPr/>
        </p:nvSpPr>
        <p:spPr>
          <a:xfrm>
            <a:off x="365760" y="182880"/>
            <a:ext cx="8229600" cy="6858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Assignment Recommendations</a:t>
            </a:r>
            <a:endParaRPr lang="en-US" sz="3600" dirty="0"/>
          </a:p>
        </p:txBody>
      </p:sp>
      <p:sp>
        <p:nvSpPr>
          <p:cNvPr id="4" name="Shape 2"/>
          <p:cNvSpPr/>
          <p:nvPr/>
        </p:nvSpPr>
        <p:spPr>
          <a:xfrm>
            <a:off x="274320" y="1371600"/>
            <a:ext cx="4206240" cy="1645920"/>
          </a:xfrm>
          <a:prstGeom prst="rect">
            <a:avLst/>
          </a:prstGeom>
          <a:solidFill>
            <a:srgbClr val="F5EDD9"/>
          </a:solidFill>
          <a:ln w="12700">
            <a:solidFill>
              <a:srgbClr val="C9A96E"/>
            </a:solidFill>
            <a:prstDash val="solid"/>
          </a:ln>
        </p:spPr>
        <p:txBody>
          <a:bodyPr/>
          <a:lstStyle/>
          <a:p>
            <a:endParaRPr lang="en-US"/>
          </a:p>
        </p:txBody>
      </p:sp>
      <p:sp>
        <p:nvSpPr>
          <p:cNvPr id="5" name="Text 3"/>
          <p:cNvSpPr/>
          <p:nvPr/>
        </p:nvSpPr>
        <p:spPr>
          <a:xfrm>
            <a:off x="438912" y="1508760"/>
            <a:ext cx="3840480" cy="365760"/>
          </a:xfrm>
          <a:prstGeom prst="rect">
            <a:avLst/>
          </a:prstGeom>
          <a:noFill/>
          <a:ln/>
        </p:spPr>
        <p:txBody>
          <a:bodyPr wrap="square" lIns="0" tIns="0" rIns="0" bIns="0" rtlCol="0" anchor="ctr"/>
          <a:lstStyle/>
          <a:p>
            <a:pPr marL="0" indent="0">
              <a:buNone/>
            </a:pPr>
            <a:r>
              <a:rPr lang="en-US" sz="1300" b="1" dirty="0">
                <a:solidFill>
                  <a:srgbClr val="1A1A1A"/>
                </a:solidFill>
              </a:rPr>
              <a:t>More Time for Annotation</a:t>
            </a:r>
            <a:endParaRPr lang="en-US" sz="1300" dirty="0"/>
          </a:p>
        </p:txBody>
      </p:sp>
      <p:sp>
        <p:nvSpPr>
          <p:cNvPr id="6" name="Text 4"/>
          <p:cNvSpPr/>
          <p:nvPr/>
        </p:nvSpPr>
        <p:spPr>
          <a:xfrm>
            <a:off x="438912" y="1938528"/>
            <a:ext cx="3840480" cy="960120"/>
          </a:xfrm>
          <a:prstGeom prst="rect">
            <a:avLst/>
          </a:prstGeom>
          <a:noFill/>
          <a:ln/>
        </p:spPr>
        <p:txBody>
          <a:bodyPr wrap="square" rtlCol="0" anchor="ctr"/>
          <a:lstStyle/>
          <a:p>
            <a:r>
              <a:rPr lang="en-US" sz="1200" dirty="0"/>
              <a:t>The limited dataset size was a major constraint for model performance, especially for neural models. Increasing the number of annotated tweets would significantly improve learning, generalization, and overall model reliability.</a:t>
            </a:r>
            <a:endParaRPr lang="en-US" sz="1150" dirty="0"/>
          </a:p>
        </p:txBody>
      </p:sp>
      <p:sp>
        <p:nvSpPr>
          <p:cNvPr id="7" name="Shape 5"/>
          <p:cNvSpPr/>
          <p:nvPr/>
        </p:nvSpPr>
        <p:spPr>
          <a:xfrm>
            <a:off x="4754880" y="1371600"/>
            <a:ext cx="4206240" cy="1645920"/>
          </a:xfrm>
          <a:prstGeom prst="rect">
            <a:avLst/>
          </a:prstGeom>
          <a:solidFill>
            <a:srgbClr val="F5EDD9"/>
          </a:solidFill>
          <a:ln w="12700">
            <a:solidFill>
              <a:srgbClr val="C9A96E"/>
            </a:solidFill>
            <a:prstDash val="solid"/>
          </a:ln>
        </p:spPr>
        <p:txBody>
          <a:bodyPr/>
          <a:lstStyle/>
          <a:p>
            <a:endParaRPr lang="en-US"/>
          </a:p>
        </p:txBody>
      </p:sp>
      <p:sp>
        <p:nvSpPr>
          <p:cNvPr id="8" name="Text 6"/>
          <p:cNvSpPr/>
          <p:nvPr/>
        </p:nvSpPr>
        <p:spPr>
          <a:xfrm>
            <a:off x="4864608" y="1352476"/>
            <a:ext cx="3840480" cy="365760"/>
          </a:xfrm>
          <a:prstGeom prst="rect">
            <a:avLst/>
          </a:prstGeom>
          <a:noFill/>
          <a:ln/>
        </p:spPr>
        <p:txBody>
          <a:bodyPr wrap="square" lIns="0" tIns="0" rIns="0" bIns="0" rtlCol="0" anchor="ctr"/>
          <a:lstStyle/>
          <a:p>
            <a:r>
              <a:rPr lang="en-US" sz="1400" b="1" dirty="0"/>
              <a:t>Emphasize Model Selection Strategy</a:t>
            </a:r>
            <a:endParaRPr lang="en-US" sz="1300" b="1" dirty="0"/>
          </a:p>
        </p:txBody>
      </p:sp>
      <p:sp>
        <p:nvSpPr>
          <p:cNvPr id="9" name="Text 7"/>
          <p:cNvSpPr/>
          <p:nvPr/>
        </p:nvSpPr>
        <p:spPr>
          <a:xfrm>
            <a:off x="4864608" y="1855396"/>
            <a:ext cx="3840480" cy="960120"/>
          </a:xfrm>
          <a:prstGeom prst="rect">
            <a:avLst/>
          </a:prstGeom>
          <a:noFill/>
          <a:ln/>
        </p:spPr>
        <p:txBody>
          <a:bodyPr wrap="square" rtlCol="0" anchor="ctr"/>
          <a:lstStyle/>
          <a:p>
            <a:r>
              <a:rPr lang="en-US" sz="1100" dirty="0"/>
              <a:t>Through our experience, we learned the importance of aligning model complexity with dataset size. Given our limited annotated data, more complex models like Bi-LSTM and Transformers struggled to perform well, while simpler models like CRF produced more reliable results. This highlighted how critical it is to choose models based on the data available rather than defaulting to more advanced architectures.</a:t>
            </a:r>
          </a:p>
        </p:txBody>
      </p:sp>
      <p:sp>
        <p:nvSpPr>
          <p:cNvPr id="10" name="Shape 8"/>
          <p:cNvSpPr/>
          <p:nvPr/>
        </p:nvSpPr>
        <p:spPr>
          <a:xfrm>
            <a:off x="2651760" y="3204333"/>
            <a:ext cx="4206240" cy="1645920"/>
          </a:xfrm>
          <a:prstGeom prst="rect">
            <a:avLst/>
          </a:prstGeom>
          <a:solidFill>
            <a:srgbClr val="F5EDD9"/>
          </a:solidFill>
          <a:ln w="12700">
            <a:solidFill>
              <a:srgbClr val="C9A96E"/>
            </a:solidFill>
            <a:prstDash val="solid"/>
          </a:ln>
        </p:spPr>
        <p:txBody>
          <a:bodyPr/>
          <a:lstStyle/>
          <a:p>
            <a:endParaRPr lang="en-US"/>
          </a:p>
        </p:txBody>
      </p:sp>
      <p:sp>
        <p:nvSpPr>
          <p:cNvPr id="11" name="Text 9"/>
          <p:cNvSpPr/>
          <p:nvPr/>
        </p:nvSpPr>
        <p:spPr>
          <a:xfrm>
            <a:off x="2834640" y="3368089"/>
            <a:ext cx="3840480" cy="365760"/>
          </a:xfrm>
          <a:prstGeom prst="rect">
            <a:avLst/>
          </a:prstGeom>
          <a:noFill/>
          <a:ln/>
        </p:spPr>
        <p:txBody>
          <a:bodyPr wrap="square" lIns="0" tIns="0" rIns="0" bIns="0" rtlCol="0" anchor="ctr"/>
          <a:lstStyle/>
          <a:p>
            <a:r>
              <a:rPr lang="en-US" sz="1400" b="1" dirty="0"/>
              <a:t>Introduce Data Augmentation</a:t>
            </a:r>
            <a:endParaRPr lang="en-US" sz="1300" b="1" dirty="0"/>
          </a:p>
        </p:txBody>
      </p:sp>
      <p:sp>
        <p:nvSpPr>
          <p:cNvPr id="12" name="Text 10"/>
          <p:cNvSpPr/>
          <p:nvPr/>
        </p:nvSpPr>
        <p:spPr>
          <a:xfrm>
            <a:off x="2834640" y="3733849"/>
            <a:ext cx="3840480" cy="960120"/>
          </a:xfrm>
          <a:prstGeom prst="rect">
            <a:avLst/>
          </a:prstGeom>
          <a:noFill/>
          <a:ln/>
        </p:spPr>
        <p:txBody>
          <a:bodyPr wrap="square" rtlCol="0" anchor="ctr"/>
          <a:lstStyle/>
          <a:p>
            <a:r>
              <a:rPr lang="en-US" sz="1200" dirty="0"/>
              <a:t>Applying simple augmentation techniques (e.g., synonym replacement, paraphrasing) could help reduce class imbalance and provide more training examples for underrepresented entity types like PROD.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511</Words>
  <Application>Microsoft Macintosh PowerPoint</Application>
  <PresentationFormat>On-screen Show (16:9)</PresentationFormat>
  <Paragraphs>55</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Georgia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Jamjoom, Azizah</cp:lastModifiedBy>
  <cp:revision>8</cp:revision>
  <dcterms:created xsi:type="dcterms:W3CDTF">2026-04-21T20:20:33Z</dcterms:created>
  <dcterms:modified xsi:type="dcterms:W3CDTF">2026-04-22T06:10:05Z</dcterms:modified>
</cp:coreProperties>
</file>